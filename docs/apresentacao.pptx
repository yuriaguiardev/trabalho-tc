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457200" cy="1097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Programas monolíticos, iterativos e recursivos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via Máquina de Traços — equivalência forte entre programas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37160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 — matrícula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 — matrícula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 — matrícula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4 — matrícula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4023360"/>
            <a:ext cx="4114800" cy="1920240"/>
          </a:xfrm>
          <a:prstGeom prst="rect">
            <a:avLst/>
          </a:prstGeom>
          <a:solidFill>
            <a:srgbClr val="141B4A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Leal Souza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1812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1812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CC5MA / CC5NA  —  2026/1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 da apresentação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veremos nos próximos 12 slides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computada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0" y="17190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 e exemplos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12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adotada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0" y="22677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monolítico normalizado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61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programas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28163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monolítico (goto), iterativo, recursivo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execução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69280" y="33649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saídas, comportamento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58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Traços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69280" y="3913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e implementação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4348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407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equivalência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0" y="44622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≡_forte P2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49834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4956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não-equivalência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0" y="5010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≢_forte P3 (mesma função!)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55321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371600" y="5504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669280" y="55595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lições do trabalho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Função computada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n! — fatorial de um número natural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46634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formal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: ℕ → ℕ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1,              se n ≤ 1 (base)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n × f(n−1),    se n &gt; 1 (passo)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e saídas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Entrada:  inteiro N ≥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Saída:    inteiro RES = N!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escolhemos o fatorial?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Admite, naturalmente, os três estilos exigidos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ilustrar equivalência e não-equivalência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Caso-base simples e testes objetivos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valores (comportamento esperado)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4884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f(N) = N!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Modelagem adotada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monolítico normalizado — a forma aceita pela Máquina de Traços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(Diverio &amp; Menezes)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monolítico normalizado é uma sequência finita de instruções rotuladas (r : I), onde cada I é: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1460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faça X ← expr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a expressão no estado corrente e atualiza a variável. Desvia, em seguida, para o próximo rótulo.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2514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51460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cond então vá_para r₁ senão vá_para r₂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a condição; em função do valor-verdade, desvia para um de dois rótulos.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51460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514600"/>
            <a:ext cx="7315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30358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 a execução do programa. O valor da variável de saída é o resultado final.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1247120" cy="12801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cadeia de traços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Configuração:  C = ⟨rótulo, estado⟩     onde estado = σ : V → 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Execução gera uma cadeia (fita):   C₀  ⊢  C₁  ⊢  C₂  ⊢  ...  ⊢  C_f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3a. Programa monolítico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C com goto — lógica monolítica explícita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466344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src/monolitico.c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i, resultado;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&amp;n);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1;    /* 1: RES &lt;- 1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1;            /* 2: I   &lt;- 1 */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&gt; n) goto fim;        /* 3: teste  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resultado * i;  /* 4: acumula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+ 1;                  /* 5: inc    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goto inicio;                /* 6: loop    */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resultado); /* 7: pare   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19202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explícito de goto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sub-rotinas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laços estruturados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recursão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governado por rótulos e desvios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rotuladas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416052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RES ←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I   ←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se I &gt; N → 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RES ← RES ×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 I   ← I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 vá_para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 pare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3b. Programa iterativo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C com while — estrutura de repetição explícita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466344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src/iterativo.c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i, resultado;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&amp;n);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1;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(i &lt;= 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resultado = resultado * 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= i + 1;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resultado);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19202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while evidente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goto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recursão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Condição-guia: i ≤ 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1, 2, …, n (crescente)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4023360"/>
            <a:ext cx="4297680" cy="21945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Ponto-chave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45262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normalização monolítica deste laço produz exatamente a mesma sequência de instruções rotuladas do programa monolítico — por isso os dois serão fortemente equivalentes.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3c. Programa recursivo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C — chamada recursiva com condição-base de parada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466344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src/recursivo.c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fatorial(int 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&lt;= 1) {            /* caso-base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fatorial(n - 1);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&amp;n);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printf("%d\n", fatorial(n));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1554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192024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recursiva visível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Condição-base: n ≤ 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goto, sem laço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de ativação implícita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3657600"/>
            <a:ext cx="4297680" cy="25603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para a MT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recursão é convertida em programa monolítico com pilha explícita: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4800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Descida:  empilha N, N−1, …,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Subida:   multiplica e desempilha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3d. Bônus — programa monolítico em Assembly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x86-64 NASM (Linux) — a lógica monolítica naturalmente expressa em baixo nível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772400" cy="466344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src/monolitico.asm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7406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     r14, 1          ; RES &lt;- 1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mov     r13, 1          ; I   &lt;- 1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cmp     r13, r12        ; I &gt; N 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jg      fim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imul    r14, r13        ; RES &lt;- RES * 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     r13             ; I   &lt;- I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jmp     inicio          ; va_para inicio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; imprime RES e encerra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0" y="1554480"/>
            <a:ext cx="3383280" cy="466344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com o pseudocódigo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instrução Assembly corresponde a uma instrução rotulada do programa monolítico normalizado: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0" y="297180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r14, 1  ⇆  RES ←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r13, 1  ⇆  I   ←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 / jg    ⇆  teste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imul        ⇆  RES ×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        ⇆  I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jmp         ⇆  vá_para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         ⇆  pare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Exemplos de execução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programas produzem a mesma saída — função computada idêntica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66344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no terminal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5 | ./monolitico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Fatorial(5) = 120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5 | ./iterativo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Fatorial(5) = 120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5 | ./recursivo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Fatorial(5) = 120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7 | ./iterativo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Fatorial(7) = 5040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funcional (mesma f computada)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03120"/>
          <a:ext cx="56692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188720"/>
                <a:gridCol w="128016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Iter.Dec.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17920" y="4663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f(n) computada não implica equivalência forte — é o que veremos adiante.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5394960"/>
            <a:ext cx="5669280" cy="8229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5440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Empirismo é útil para validar a função computada, mas INSUFICIENTE para a análise de equivalência forte.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Máquina de Traços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e implementação em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6634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formal que simula passo-a-passo um programa monolítico normalizado, produzindo uma cadeia (fita) de configurações ⟨rótulo, estado⟩.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equivalência FORTE entre programas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Evidenciar ordem de operações/testes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observável o fluxo de controle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comparação formal (não empírica)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66344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Nossa implementação — maquina-tracos/mt.py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 class Atribuicao: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 class Teste:    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 class Pare:      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MaquinaDeTracos: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executar(prog, entrada):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rotulo = prog.inicio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instr = prog.instrucoes[rotulo]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isinstance(instr, Atribuicao):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estado[instr.var] = instr.expr(estado)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rotulo = instr.proximo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elif isinstance(instr, Teste):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rotulo = (instr.rotulo_verdadeiro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if instr.cond(estado)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else instr.rotulo_falso)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elif isinstance(instr, Pare):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traco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Fita produzida pela MT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 do programa monolítico P1 para a entrada N =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466344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  1, [N=3]&gt;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2, [N=3, RES=1]&gt;                 acao: RES &lt;- 1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3, [N=3, RES=1, I=1]&gt;            acao: I &lt;- 1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4, [N=3, RES=1, I=1]&gt;            teste: I &gt; N  -&gt;  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5, [N=3, RES=1, I=1]&gt;            acao: RES &lt;- RES * I   [RES=1]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3, [N=3, RES=1, I=2]&gt;            acao: I &lt;- I + 1       [I=2]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4, [N=3, RES=1, I=2]&gt;            teste: I &gt; N  -&gt;  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5, [N=3, RES=2, I=2]&gt;            acao: RES &lt;- RES * I   [RES=2]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3, [N=3, RES=2, I=3]&gt;            acao: I &lt;- I + 1       [I=3]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4, [N=3, RES=2, I=3]&gt;            teste: I &gt; N  -&gt;  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5, [N=3, RES=6, I=3]&gt;            acao: RES &lt;- RES * I   [RES=6]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3, [N=3, RES=6, I=4]&gt;            acao: I &lt;- I + 1       [I=4]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7, [N=3, RES=6, I=4]&gt;            teste: I &gt; N  -&gt;  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  &lt;    7, [N=3, RES=6, I=4]&gt;            acao: pare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Resultado: 6      Passos: 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Caso de EQUIVALÊNCIA forte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(monolítico com goto)  ≡_forte  P2 (iterativo com while)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Afirmação:  os traços de P1 e P2 coincidem passo-a-passo sob a renomeação de rótulos (i1→1, i2→2, i3→3, i4→4, i5→5, i7→7).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monolítico (goto)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2331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iterativo (while)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577840" cy="320040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2743200"/>
            <a:ext cx="5577840" cy="320040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3464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1, [N=3]&gt;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2, [N=3, RES=1]&gt;        RES&lt;-1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3, [N=3, RES=1, I=1]&gt;   I&lt;-1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4, ...&gt;                 I&gt;N?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5, [RES=1]&gt;             RES*I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3, [I=2]&gt;               I+1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4, ...&gt;                 I&gt;N?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5, [RES=2]&gt;             RES*I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3, [I=3]&gt;               I+1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4, ...&gt;                 I&gt;N?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5, [RES=6]&gt;             RES*I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3, [I=4]&gt;               I+1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7, ...&gt;                 I&gt;N?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 7, ...&gt;                 pare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283464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i1, [N=3]&gt;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i2, [N=3, RES=1]&gt;        RES&lt;-1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i3, [N=3, RES=1, I=1]&gt;   I&lt;-1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i4, ...&gt;                 I&gt;N?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i5, [RES=1]&gt;             RES*I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i3, [I=2]&gt;               I+1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i4, ...&gt;                 I&gt;N?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i5, [RES=2]&gt;             RES*I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i3, [I=3]&gt;               I+1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i4, ...&gt;                 I&gt;N?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i5, [RES=6]&gt;             RES*I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i3, [I=4]&gt;               I+1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i7, ...&gt;                 I&gt;N?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i7, ...&gt;                 pare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Mesma sequência, mesmos estados, mesmo resultado — P1 e P2 são FORTEMENTE EQUIVALENTES.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Caso de NÃO-equivalência forte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(crescente, i:1→n)  vs  P3 (decrescente, i:n→1) — mesma função, traços distintos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Afirmação:  P2 e P3 computam a MESMA função (ambos retornam n!), mas os traços produzidos divergem já no passo 2.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crescente:  1 × 2 × 3 × 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2331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decrescente:  4 × 3 × 2 ×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577840" cy="301752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2743200"/>
            <a:ext cx="5577840" cy="3017520"/>
          </a:xfrm>
          <a:prstGeom prst="rect">
            <a:avLst/>
          </a:prstGeom>
          <a:solidFill>
            <a:srgbClr val="141B4A"/>
          </a:solidFill>
          <a:ln w="12700">
            <a:solidFill>
              <a:srgbClr val="141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34640"/>
            <a:ext cx="5349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passo  &lt;rotulo, I, RES&gt;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    &lt; i1,  ?,  ? 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    &lt; i2,  ?,  1 &gt;    RES&lt;-1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    &lt; i3,  1,  1 &gt;    I&lt;-1   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    &lt; i5,  1,  1 &gt;    RES*I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    &lt; i3,  2,  1 &gt;    I+1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7    &lt; i5,  2,  2 &gt;    RES*2=2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    &lt; i5,  3,  6 &gt;    RES*3=6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13    &lt; i5,  4, 24 &gt;    RES*4=24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14    &lt; i7,  4, 24 &gt;    pare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2834640"/>
            <a:ext cx="5349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passo  &lt;rotulo, I, RES&gt;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    &lt; d1,  ?,  ? 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    &lt; d2,  ?,  1 &gt;    RES&lt;-1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    &lt; d3,  4,  1 &gt;    I&lt;-N   ◀  DIFERE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    &lt; d5,  4,  4 &gt;    RES*I=4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    &lt; d3,  3,  4 &gt;    I-1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7    &lt; d5,  3, 12 &gt;    RES*3=12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    &lt; d5,  2, 24 &gt;    RES*2=24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13    &lt; d5,  1, 24 &gt;    RES*1=24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14    &lt; d7,  0, 24 &gt;    pare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 primeira divergência ocorre no passo 2 (I←1 em P2, I←N em P3). Traços distintos ⇒ não são fortemente equivalentes, apesar de P2(n)=P3(n)=n!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lição formal do trabalho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funcional  ≠  Equivalência forte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77840" cy="45720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645920"/>
            <a:ext cx="5577840" cy="45720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Equivalência FUNCIONAL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1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φ_P = φ_Q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 computada — para toda entrada, mesma saída.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Verifica-se empiricamente (testes)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Indiferente à ordem das operações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Satisfeita por P1, P2, P3 e P4 simultaneamente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Equivalência FORTE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1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mesma cadeia de traços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sequência de configurações ⟨rótulo, estado⟩, passo a passo.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61188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Verifica-se pela Máquina de Traços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à ordem de operações e testes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Satisfeita por P1 ≡ P2; violada por P2 ≢ P3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forte  ⟹  funcional   (mas  funcional  ⟹̸  forte)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Conclusão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dos resultados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estilos, uma função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fatorial como programa monolítico (goto), iterativo (while) e recursivo — ambos funcionalmente equivalentes.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5968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Traços funcional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962656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Python gerou fitas para todos os programas, no formato ⟨rótulo, estado⟩ ⊢ ... ⊢ ⟨rótulo', estado'⟩.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547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forte confirmada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913632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Traços de P1 e P2 coincidem passo-a-passo (com renomeação de rótulos). São fortemente equivalentes.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90288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90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4988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Não-equivalência fundamentada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86460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e P3 computam a mesma função (n!), mas os traços divergem já no passo 2. Logo, não são fortemente equivalentes.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41264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541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544982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em Assembly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815584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monolítica em x86-64 NASM evidencia, em baixo nível, a natureza de rótulos-e-desvios de um programa monolítico.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Computabilidade  ·  Prof. Daniel Leal Souza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críticas e sugestões — sejam bem-vindas.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41148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do trabalho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github.com/&lt;equipe&gt;/teoria-computabilidade-trabalho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 Diverio, T. A.; Menezes, P. F. B.  —  Teoria da Computação. Porto Alegre: Bookman.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Trabalho academico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Programas monoliticos, iterativos, recursivos e Maquina de Tracos</dc:title>
  <dc:subject>PptxGenJS Presentation</dc:subject>
  <dc:creator>Equipe de Teoria da Computabilidade</dc:creator>
  <cp:lastModifiedBy>Equipe de Teoria da Computabilidade</cp:lastModifiedBy>
  <cp:revision>1</cp:revision>
  <dcterms:created xsi:type="dcterms:W3CDTF">2026-04-17T13:50:28Z</dcterms:created>
  <dcterms:modified xsi:type="dcterms:W3CDTF">2026-04-17T13:50:28Z</dcterms:modified>
</cp:coreProperties>
</file>